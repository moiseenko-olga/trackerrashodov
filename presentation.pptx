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71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7FB"/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828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19271-8164-8931-8873-2ECF2A7F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7775C-9871-9B2B-DA82-3B296D8C6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E8320-1D4E-9758-C725-6CDDFC697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F51F3-51B4-1A40-542F-04FE8B350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99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36576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КУРСОВОЙ ПРОЕКТ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Трекер расходов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для учёта личных финансов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8046720" cy="5486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Моисеенко О.Н., группа 253-325</a:t>
            </a:r>
            <a:r>
              <a:rPr lang="en-US" sz="1300" b="1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Преподаватель: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Красникова И.Н.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Московский Политехнический Университет · Москва,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Содержание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087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4996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проблематика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774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3682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715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 проекта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46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2369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584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решений и требования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6908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1148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41056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БД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453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ER-диаграмма и логическая модель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46304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5087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14996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1847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стек, ключевые алгоритмы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3317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33172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774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23682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SQL-запросы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2715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ключевых запросов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2004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20040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246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32369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40680" y="3584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и нефункциональное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40690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4069080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41148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40680" y="41056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40680" y="4453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и выводы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ВВЕДЕНИЕ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 управления личными финансами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людей не ведут учёт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своих расходов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96012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Неконтролируемые расходы ведут к финансовой нестабильности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 узнают о дефиците бюджета лишь к концу месяца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Банковские приложения привязаны к банку и не учитывают наличные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Онлайн-сервисы требуют регистрации и постоянного интернета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Табличные решения (Excel) лишены удобства и автоматизации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ЦЕЛЬ РАБОТЫ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веб-приложение для учёта личных расходов на Python + Flask + SQLite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Задачи: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743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 и существующих решений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310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структуры базы данных (ER + логика)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5020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8770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таблиц categories, expenses, limits (SQLite)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1713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4398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веб-интерфейса на Flask с шаблонами Jinja2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8163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43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аналитических отчётов по месяцам и категориям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3832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3310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системы уведомлений о превышении лимитов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95020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8770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документации проекта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АНАЛИЗ ПРЕДМЕТНОЙ ОБЛАСТИ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Обзор существующих решений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334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33472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Банковские приложения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1993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Сбербанк, Тинькофф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Автоучёт транзакций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926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Привязаны к банку, нет наличных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6334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71600"/>
            <a:ext cx="2633472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Онлайн-сервисы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993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Дзен-мани, CoinKeeper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Расширенная аналитика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926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Нужен интернет + регистрация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44184" y="1371600"/>
            <a:ext cx="26334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44184" y="1371600"/>
            <a:ext cx="2633472" cy="914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Табличные решения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53912" y="1993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Google Sheets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53912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Максимальная гибкость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53912" y="2926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Нет интерфейса, нет автоматизации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69087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Незаполненная ниша: offline-приложение · локальное хранение · без регистрации · умные уведомления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АНАЛИЗ ПРЕДМЕТНОЙ ОБЛАСТИ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Требования к системе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Функциональные требования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расхода: сумма, категория, описание, дата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удаление транзакций с фильтрацией по месяцу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Ежемесячный отчёт: разбивка по категориям, история 6 мес.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Бюджетные лимиты с визуальным прогресс-баром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уведомления с персонализированными комментариями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Нефункциональные требования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37760" y="1645920"/>
            <a:ext cx="374904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642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77840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отклика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956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мс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404872"/>
            <a:ext cx="374904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423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без интернета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715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offline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163824"/>
            <a:ext cx="374904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3182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сторонних зависимостей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3474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stdlib Python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922776"/>
            <a:ext cx="374904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9410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77840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Кросс-платформенность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4233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/ macOS / Linux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ПРОЕКТИРОВАНИЕ БАЗЫ ДАННЫХ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ER-диаграмма (концептуальная модель)</a:t>
            </a:r>
            <a:endParaRPr lang="en-US" sz="3000" dirty="0"/>
          </a:p>
        </p:txBody>
      </p:sp>
      <p:pic>
        <p:nvPicPr>
          <p:cNvPr id="4" name="Image 0" descr="/home/claude/er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50292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325880"/>
            <a:ext cx="29260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325880"/>
            <a:ext cx="5486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(Category)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709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расходов: name, color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468880"/>
            <a:ext cx="29260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468880"/>
            <a:ext cx="54864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 (Expense)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2852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Транзакция: amount, date, description, created_at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3611880"/>
            <a:ext cx="292608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611880"/>
            <a:ext cx="54864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657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(Limit)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3995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monthly_lim по категории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607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— Категория → Расход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— Категория → Лимит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ПРОЕКТИРОВАНИЕ БАЗЫ ДАННЫХ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Логическая модель данных</a:t>
            </a:r>
            <a:endParaRPr lang="en-US" sz="3000" dirty="0"/>
          </a:p>
        </p:txBody>
      </p:sp>
      <p:pic>
        <p:nvPicPr>
          <p:cNvPr id="4" name="Image 0" descr="/home/claude/logical_diagra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82296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4401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4499-A281-0945-06E6-3ACDF793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4C6911-24DF-B58A-D158-9623C6FC94CA}"/>
              </a:ext>
            </a:extLst>
          </p:cNvPr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ПРОЕКТИРОВАНИЕ БАЗЫ ДАННЫХ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E20460-974E-19A1-005B-08965C32E6E1}"/>
              </a:ext>
            </a:extLst>
          </p:cNvPr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Логическая модель данных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911508C-2487-8680-D258-DA688C7BAFB7}"/>
              </a:ext>
            </a:extLst>
          </p:cNvPr>
          <p:cNvSpPr/>
          <p:nvPr/>
        </p:nvSpPr>
        <p:spPr>
          <a:xfrm>
            <a:off x="254725" y="122301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Таблица categories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3950F93-9F7E-7C24-D7C9-DDC19167010E}"/>
              </a:ext>
            </a:extLst>
          </p:cNvPr>
          <p:cNvSpPr/>
          <p:nvPr/>
        </p:nvSpPr>
        <p:spPr>
          <a:xfrm>
            <a:off x="150222" y="1545336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805B503-B753-C450-FBD9-95A27D92E0F6}"/>
              </a:ext>
            </a:extLst>
          </p:cNvPr>
          <p:cNvSpPr/>
          <p:nvPr/>
        </p:nvSpPr>
        <p:spPr>
          <a:xfrm>
            <a:off x="241662" y="156362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B70FE2-3449-A55F-349E-28A672D7AB74}"/>
              </a:ext>
            </a:extLst>
          </p:cNvPr>
          <p:cNvSpPr/>
          <p:nvPr/>
        </p:nvSpPr>
        <p:spPr>
          <a:xfrm>
            <a:off x="1064621" y="1563624"/>
            <a:ext cx="1822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000" dirty="0">
                <a:solidFill>
                  <a:srgbClr val="028090"/>
                </a:solidFill>
                <a:latin typeface="Consolas" panose="020B0609020204030204" pitchFamily="49" charset="0"/>
              </a:rPr>
              <a:t>Автоинкрементный идентификатор</a:t>
            </a:r>
            <a:endParaRPr lang="en-US" sz="1000" dirty="0">
              <a:solidFill>
                <a:srgbClr val="02809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F7F5473-FDCF-5929-CF8F-C834EBAA824D}"/>
              </a:ext>
            </a:extLst>
          </p:cNvPr>
          <p:cNvSpPr/>
          <p:nvPr/>
        </p:nvSpPr>
        <p:spPr>
          <a:xfrm>
            <a:off x="150222" y="1892808"/>
            <a:ext cx="28346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03A428B-402B-FDB5-3B62-26DFECFD80D6}"/>
              </a:ext>
            </a:extLst>
          </p:cNvPr>
          <p:cNvSpPr/>
          <p:nvPr/>
        </p:nvSpPr>
        <p:spPr>
          <a:xfrm>
            <a:off x="241662" y="191109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C97B7CD-E3A4-BC80-2ADD-BE78CEBB00D7}"/>
              </a:ext>
            </a:extLst>
          </p:cNvPr>
          <p:cNvSpPr/>
          <p:nvPr/>
        </p:nvSpPr>
        <p:spPr>
          <a:xfrm>
            <a:off x="1064622" y="1911096"/>
            <a:ext cx="1822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000" dirty="0">
                <a:solidFill>
                  <a:srgbClr val="028090"/>
                </a:solidFill>
                <a:latin typeface="Consolas" panose="020B0609020204030204" pitchFamily="49" charset="0"/>
              </a:rPr>
              <a:t>Наименование категории (уникальное)</a:t>
            </a:r>
            <a:endParaRPr lang="en-US" sz="1000" dirty="0">
              <a:solidFill>
                <a:srgbClr val="02809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7E11478-4C24-0645-E304-A777D98CF0F0}"/>
              </a:ext>
            </a:extLst>
          </p:cNvPr>
          <p:cNvSpPr/>
          <p:nvPr/>
        </p:nvSpPr>
        <p:spPr>
          <a:xfrm>
            <a:off x="150222" y="2240280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681F6C2-BCD9-F294-CBFE-A36425D192F8}"/>
              </a:ext>
            </a:extLst>
          </p:cNvPr>
          <p:cNvSpPr/>
          <p:nvPr/>
        </p:nvSpPr>
        <p:spPr>
          <a:xfrm>
            <a:off x="241662" y="22585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F2C2EA3-DB6B-3DA6-0189-A0B1BCECE553}"/>
              </a:ext>
            </a:extLst>
          </p:cNvPr>
          <p:cNvSpPr/>
          <p:nvPr/>
        </p:nvSpPr>
        <p:spPr>
          <a:xfrm>
            <a:off x="1064622" y="2258568"/>
            <a:ext cx="1822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000" dirty="0">
                <a:solidFill>
                  <a:srgbClr val="028090"/>
                </a:solidFill>
                <a:latin typeface="Consolas" panose="020B0609020204030204" pitchFamily="49" charset="0"/>
              </a:rPr>
              <a:t>Цвет в формате #RRGGBB</a:t>
            </a:r>
            <a:endParaRPr lang="en-US" sz="1000" dirty="0">
              <a:solidFill>
                <a:srgbClr val="02809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5DD1015-346C-36D5-80BF-85E34BA88C90}"/>
              </a:ext>
            </a:extLst>
          </p:cNvPr>
          <p:cNvSpPr/>
          <p:nvPr/>
        </p:nvSpPr>
        <p:spPr>
          <a:xfrm>
            <a:off x="3135084" y="1221377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Таблица expenses</a:t>
            </a:r>
            <a:endParaRPr lang="en-US" sz="1300" dirty="0">
              <a:solidFill>
                <a:srgbClr val="028090"/>
              </a:solidFill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B88AC78-B45F-DED4-AC8D-764124BDEBC7}"/>
              </a:ext>
            </a:extLst>
          </p:cNvPr>
          <p:cNvSpPr/>
          <p:nvPr/>
        </p:nvSpPr>
        <p:spPr>
          <a:xfrm>
            <a:off x="3135084" y="1888889"/>
            <a:ext cx="28346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85C2C37-C948-E6D0-1118-923B9CEBED32}"/>
              </a:ext>
            </a:extLst>
          </p:cNvPr>
          <p:cNvSpPr/>
          <p:nvPr/>
        </p:nvSpPr>
        <p:spPr>
          <a:xfrm>
            <a:off x="3226524" y="1907177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1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74E0FDA-E946-D36B-47EA-F5408F9EA2F5}"/>
              </a:ext>
            </a:extLst>
          </p:cNvPr>
          <p:cNvSpPr/>
          <p:nvPr/>
        </p:nvSpPr>
        <p:spPr>
          <a:xfrm>
            <a:off x="4258490" y="1907177"/>
            <a:ext cx="16197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расхода в рублях</a:t>
            </a:r>
            <a:endParaRPr lang="en-US" sz="10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9F327D8-2F53-C5BD-0C88-CA99CC63420E}"/>
              </a:ext>
            </a:extLst>
          </p:cNvPr>
          <p:cNvSpPr/>
          <p:nvPr/>
        </p:nvSpPr>
        <p:spPr>
          <a:xfrm>
            <a:off x="3135084" y="2199785"/>
            <a:ext cx="2834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875033F-22C1-AE20-1CB4-35448492403C}"/>
              </a:ext>
            </a:extLst>
          </p:cNvPr>
          <p:cNvSpPr/>
          <p:nvPr/>
        </p:nvSpPr>
        <p:spPr>
          <a:xfrm>
            <a:off x="3226524" y="2218073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category_id</a:t>
            </a:r>
            <a:endParaRPr lang="en-US" sz="11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39B194A-84E7-560E-9569-75B230A8608C}"/>
              </a:ext>
            </a:extLst>
          </p:cNvPr>
          <p:cNvSpPr/>
          <p:nvPr/>
        </p:nvSpPr>
        <p:spPr>
          <a:xfrm>
            <a:off x="4258491" y="2218073"/>
            <a:ext cx="16197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Ссылка на </a:t>
            </a: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categories.id</a:t>
            </a:r>
            <a:endParaRPr lang="en-US" sz="10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8FFE4F3-59B4-A200-8B90-D615A3BED2FF}"/>
              </a:ext>
            </a:extLst>
          </p:cNvPr>
          <p:cNvSpPr/>
          <p:nvPr/>
        </p:nvSpPr>
        <p:spPr>
          <a:xfrm>
            <a:off x="3135084" y="2510681"/>
            <a:ext cx="28346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E6FEAD2-432F-1F97-C040-55E8C372BFB8}"/>
              </a:ext>
            </a:extLst>
          </p:cNvPr>
          <p:cNvSpPr/>
          <p:nvPr/>
        </p:nvSpPr>
        <p:spPr>
          <a:xfrm>
            <a:off x="3226524" y="252896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CC08B6C-1D1B-024D-DB86-8909FC41D3AD}"/>
              </a:ext>
            </a:extLst>
          </p:cNvPr>
          <p:cNvSpPr/>
          <p:nvPr/>
        </p:nvSpPr>
        <p:spPr>
          <a:xfrm>
            <a:off x="4258491" y="2528969"/>
            <a:ext cx="16197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Произвольное описание операции</a:t>
            </a:r>
            <a:endParaRPr lang="en-US" sz="10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765836A-6BC4-69FB-2A21-5860FC708368}"/>
              </a:ext>
            </a:extLst>
          </p:cNvPr>
          <p:cNvSpPr/>
          <p:nvPr/>
        </p:nvSpPr>
        <p:spPr>
          <a:xfrm>
            <a:off x="3135084" y="2821577"/>
            <a:ext cx="2834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FA49774-0CFE-EBAC-9937-909F25090715}"/>
              </a:ext>
            </a:extLst>
          </p:cNvPr>
          <p:cNvSpPr/>
          <p:nvPr/>
        </p:nvSpPr>
        <p:spPr>
          <a:xfrm>
            <a:off x="3226524" y="2839865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A7DC3051-F47C-2159-9DC5-C015D3824363}"/>
              </a:ext>
            </a:extLst>
          </p:cNvPr>
          <p:cNvSpPr/>
          <p:nvPr/>
        </p:nvSpPr>
        <p:spPr>
          <a:xfrm>
            <a:off x="4258490" y="2839865"/>
            <a:ext cx="16197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Дата расхода, формат </a:t>
            </a: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YYYY-MM-DD</a:t>
            </a:r>
            <a:endParaRPr lang="en-US" sz="100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5B74A18E-C5FE-CB02-1BF1-02DA3A3AC5D2}"/>
              </a:ext>
            </a:extLst>
          </p:cNvPr>
          <p:cNvSpPr/>
          <p:nvPr/>
        </p:nvSpPr>
        <p:spPr>
          <a:xfrm>
            <a:off x="3135084" y="3133453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E7FB4D23-0291-A7AA-5524-5CE6A66A4C7F}"/>
              </a:ext>
            </a:extLst>
          </p:cNvPr>
          <p:cNvSpPr/>
          <p:nvPr/>
        </p:nvSpPr>
        <p:spPr>
          <a:xfrm>
            <a:off x="3226524" y="315174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 err="1">
                <a:latin typeface="Consolas" panose="020B0609020204030204" pitchFamily="49" charset="0"/>
              </a:rPr>
              <a:t>created_at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0765F4CB-39E0-D8FA-3E31-EECFD4214555}"/>
              </a:ext>
            </a:extLst>
          </p:cNvPr>
          <p:cNvSpPr/>
          <p:nvPr/>
        </p:nvSpPr>
        <p:spPr>
          <a:xfrm>
            <a:off x="4258491" y="3164151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Дата-время добавления записи</a:t>
            </a:r>
            <a:endParaRPr lang="en-US" sz="10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154A876E-0775-ADF1-2D13-97530F64D72E}"/>
              </a:ext>
            </a:extLst>
          </p:cNvPr>
          <p:cNvSpPr/>
          <p:nvPr/>
        </p:nvSpPr>
        <p:spPr>
          <a:xfrm>
            <a:off x="4963884" y="3151741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574EE5B5-0C61-09F8-6092-587D71AF43DA}"/>
              </a:ext>
            </a:extLst>
          </p:cNvPr>
          <p:cNvSpPr/>
          <p:nvPr/>
        </p:nvSpPr>
        <p:spPr>
          <a:xfrm>
            <a:off x="3135084" y="1541417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F5FFC0AB-7032-3A68-E9B8-66209A520BE4}"/>
              </a:ext>
            </a:extLst>
          </p:cNvPr>
          <p:cNvSpPr/>
          <p:nvPr/>
        </p:nvSpPr>
        <p:spPr>
          <a:xfrm>
            <a:off x="3226524" y="1559705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E422B2F-7F1F-2F20-D140-7411A79DBA7B}"/>
              </a:ext>
            </a:extLst>
          </p:cNvPr>
          <p:cNvSpPr/>
          <p:nvPr/>
        </p:nvSpPr>
        <p:spPr>
          <a:xfrm>
            <a:off x="4258490" y="1559705"/>
            <a:ext cx="16132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000" dirty="0">
                <a:solidFill>
                  <a:srgbClr val="028090"/>
                </a:solidFill>
                <a:latin typeface="Consolas" panose="020B0609020204030204" pitchFamily="49" charset="0"/>
              </a:rPr>
              <a:t>Автоинкрементный идентификатор</a:t>
            </a:r>
            <a:endParaRPr lang="en-US" sz="1000" dirty="0">
              <a:solidFill>
                <a:srgbClr val="028090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ACD77985-C48E-43BC-699F-3AB726C31156}"/>
              </a:ext>
            </a:extLst>
          </p:cNvPr>
          <p:cNvSpPr/>
          <p:nvPr/>
        </p:nvSpPr>
        <p:spPr>
          <a:xfrm>
            <a:off x="6119946" y="1228453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Таблица</a:t>
            </a: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limits</a:t>
            </a:r>
            <a:endParaRPr lang="en-US" sz="1300" dirty="0">
              <a:solidFill>
                <a:srgbClr val="028090"/>
              </a:solidFill>
            </a:endParaRPr>
          </a:p>
        </p:txBody>
      </p:sp>
      <p:sp>
        <p:nvSpPr>
          <p:cNvPr id="73" name="Shape 22">
            <a:extLst>
              <a:ext uri="{FF2B5EF4-FFF2-40B4-BE49-F238E27FC236}">
                <a16:creationId xmlns:a16="http://schemas.microsoft.com/office/drawing/2014/main" id="{5DEB12D3-73EF-0CAC-7642-1FF002B8BD46}"/>
              </a:ext>
            </a:extLst>
          </p:cNvPr>
          <p:cNvSpPr/>
          <p:nvPr/>
        </p:nvSpPr>
        <p:spPr>
          <a:xfrm>
            <a:off x="6119946" y="1892808"/>
            <a:ext cx="28346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117B9469-1893-0432-F831-D3F14FD0F8CD}"/>
              </a:ext>
            </a:extLst>
          </p:cNvPr>
          <p:cNvSpPr/>
          <p:nvPr/>
        </p:nvSpPr>
        <p:spPr>
          <a:xfrm>
            <a:off x="6211386" y="19110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category_id</a:t>
            </a:r>
            <a:endParaRPr lang="en-US" sz="1100" dirty="0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0B778CAA-BC6B-F0CC-FF68-49B567982221}"/>
              </a:ext>
            </a:extLst>
          </p:cNvPr>
          <p:cNvSpPr/>
          <p:nvPr/>
        </p:nvSpPr>
        <p:spPr>
          <a:xfrm>
            <a:off x="7243353" y="1911096"/>
            <a:ext cx="16197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Ссылка на </a:t>
            </a: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categories.id</a:t>
            </a:r>
            <a:endParaRPr lang="en-US" sz="1000" dirty="0"/>
          </a:p>
        </p:txBody>
      </p:sp>
      <p:sp>
        <p:nvSpPr>
          <p:cNvPr id="82" name="Shape 11">
            <a:extLst>
              <a:ext uri="{FF2B5EF4-FFF2-40B4-BE49-F238E27FC236}">
                <a16:creationId xmlns:a16="http://schemas.microsoft.com/office/drawing/2014/main" id="{6EA3478E-B288-E9EE-341B-634068BA34B6}"/>
              </a:ext>
            </a:extLst>
          </p:cNvPr>
          <p:cNvSpPr/>
          <p:nvPr/>
        </p:nvSpPr>
        <p:spPr>
          <a:xfrm>
            <a:off x="6119946" y="2218073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34FF2706-DAF8-F34C-D723-C36B6614ADAC}"/>
              </a:ext>
            </a:extLst>
          </p:cNvPr>
          <p:cNvSpPr/>
          <p:nvPr/>
        </p:nvSpPr>
        <p:spPr>
          <a:xfrm>
            <a:off x="6211386" y="223636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latin typeface="Consolas" panose="020B0609020204030204" pitchFamily="49" charset="0"/>
              </a:rPr>
              <a:t>monthly_lim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84" name="Text 13">
            <a:extLst>
              <a:ext uri="{FF2B5EF4-FFF2-40B4-BE49-F238E27FC236}">
                <a16:creationId xmlns:a16="http://schemas.microsoft.com/office/drawing/2014/main" id="{FE58EE99-0545-ACD6-2F0E-8E5752D94101}"/>
              </a:ext>
            </a:extLst>
          </p:cNvPr>
          <p:cNvSpPr/>
          <p:nvPr/>
        </p:nvSpPr>
        <p:spPr>
          <a:xfrm>
            <a:off x="7243353" y="2248771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Месячный бюджетный лимит в рублях</a:t>
            </a:r>
            <a:endParaRPr lang="en-US" sz="1000" dirty="0"/>
          </a:p>
        </p:txBody>
      </p:sp>
      <p:sp>
        <p:nvSpPr>
          <p:cNvPr id="85" name="Text 14">
            <a:extLst>
              <a:ext uri="{FF2B5EF4-FFF2-40B4-BE49-F238E27FC236}">
                <a16:creationId xmlns:a16="http://schemas.microsoft.com/office/drawing/2014/main" id="{DAD12403-4AFA-CD43-C84E-8D4C4B9A3FA7}"/>
              </a:ext>
            </a:extLst>
          </p:cNvPr>
          <p:cNvSpPr/>
          <p:nvPr/>
        </p:nvSpPr>
        <p:spPr>
          <a:xfrm>
            <a:off x="7948746" y="2236361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6" name="Shape 3">
            <a:extLst>
              <a:ext uri="{FF2B5EF4-FFF2-40B4-BE49-F238E27FC236}">
                <a16:creationId xmlns:a16="http://schemas.microsoft.com/office/drawing/2014/main" id="{51B09120-C9AD-5E22-9C61-5B51E189EFE6}"/>
              </a:ext>
            </a:extLst>
          </p:cNvPr>
          <p:cNvSpPr/>
          <p:nvPr/>
        </p:nvSpPr>
        <p:spPr>
          <a:xfrm>
            <a:off x="6119946" y="1548493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7" name="Text 4">
            <a:extLst>
              <a:ext uri="{FF2B5EF4-FFF2-40B4-BE49-F238E27FC236}">
                <a16:creationId xmlns:a16="http://schemas.microsoft.com/office/drawing/2014/main" id="{DD8DD9AA-8855-9656-230D-BCA25345770D}"/>
              </a:ext>
            </a:extLst>
          </p:cNvPr>
          <p:cNvSpPr/>
          <p:nvPr/>
        </p:nvSpPr>
        <p:spPr>
          <a:xfrm>
            <a:off x="6211386" y="156678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88" name="Text 5">
            <a:extLst>
              <a:ext uri="{FF2B5EF4-FFF2-40B4-BE49-F238E27FC236}">
                <a16:creationId xmlns:a16="http://schemas.microsoft.com/office/drawing/2014/main" id="{A45D5C89-BF8B-3042-7952-F60AFC916E74}"/>
              </a:ext>
            </a:extLst>
          </p:cNvPr>
          <p:cNvSpPr/>
          <p:nvPr/>
        </p:nvSpPr>
        <p:spPr>
          <a:xfrm>
            <a:off x="7243352" y="1566781"/>
            <a:ext cx="16132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000" dirty="0">
                <a:solidFill>
                  <a:srgbClr val="028090"/>
                </a:solidFill>
                <a:latin typeface="Consolas" panose="020B0609020204030204" pitchFamily="49" charset="0"/>
              </a:rPr>
              <a:t>Автоинкрементный идентификатор</a:t>
            </a:r>
            <a:endParaRPr lang="en-US" sz="1000" dirty="0">
              <a:solidFill>
                <a:srgbClr val="02809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125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РЕАЛИЗАЦИЯ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и стек технологий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6977" y="13258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6977" y="1325880"/>
            <a:ext cx="2606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8417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8417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+ БД-хелперы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8417" y="2331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Параметризованные SQL-запросы, 3 таблицы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0217" y="1325880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0217" y="1325880"/>
            <a:ext cx="260604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1657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61657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HTML-шаблоны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61657" y="2331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разделов: dashboard, add, list,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notifications, limits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33457" y="13258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3457" y="1325880"/>
            <a:ext cx="2606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4897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24897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Flask-маршруты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24897" y="2331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функций-маршрутов + 2 JSON API (AJAX)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13017" y="246888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6257" y="2468880"/>
            <a:ext cx="45720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Стек технологий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82296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206240"/>
            <a:ext cx="8229600" cy="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06240"/>
            <a:ext cx="82296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3.8+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Основной язык программирования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Flask / Jinja2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Веб-фреймворк и шаблонизатор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SQLite / sqlite3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Встроенная реляционная БД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datetime, os, json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Вспомогательные модули stdlib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РЕАЛИЗАЦИЯ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Разделы веб-приложения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5819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расходов за месяц, топ категорий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1732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977640" y="15819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расход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ввода: сумма, категория, описание, дата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15819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расходов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по месяцу, удаление записей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089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51560" y="3273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по категориям, история 6 месяцев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1089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1089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977640" y="3273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886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сообщения при превышении лимитов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1089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1089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03720" y="3273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бюджетных ограничений с прогресс-баром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РЕАЛИЗАЦИЯ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модулей app.py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758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init_db()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013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Инициализация БД, создание таблиц, вставка демо-данных при первом запуске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4114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04288"/>
            <a:ext cx="54864" cy="7589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0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Helpers (5 ф-й)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883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Параметризованные SQL-запросы: get_expenses, get_categories, get_limits...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91256"/>
            <a:ext cx="4114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91256"/>
            <a:ext cx="54864" cy="7589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369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 — сводка расходов за текущий месяц, топ категорий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78224"/>
            <a:ext cx="4114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78224"/>
            <a:ext cx="54864" cy="758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239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add() / expenses()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4622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расхода (POST) и просмотр списка с фильтром по месяцу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114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417320"/>
            <a:ext cx="54864" cy="7589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8013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Ежемесячный отчёт: разбивка по категориям, история за 6 месяцев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04288"/>
            <a:ext cx="4114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04288"/>
            <a:ext cx="54864" cy="7589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350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6883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персонализированных уведомлений при превышении лимитов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191256"/>
            <a:ext cx="4114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191256"/>
            <a:ext cx="54864" cy="758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2369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limits_page()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5753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редактирование бюджетных лимитов по категориям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78224"/>
            <a:ext cx="41148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078224"/>
            <a:ext cx="54864" cy="75895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1239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api_delete() (2 API)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4622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JSON-эндпоинты для удаления расходов через AJAX без перезагрузки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РЕАЛИЗАЦИЯ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алгоритмы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57984" y="114300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57984" y="114300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9344" y="1325880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9344" y="1325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40864" y="12801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БД: расходы по категориям за текущий месяц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73936" y="1655064"/>
            <a:ext cx="0" cy="31089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7984" y="196596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57984" y="1965960"/>
            <a:ext cx="54864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9344" y="2148840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344" y="2148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40864" y="21031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сумм с установленными лимитами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73936" y="2478024"/>
            <a:ext cx="0" cy="31089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2788920"/>
            <a:ext cx="530352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57984" y="2788920"/>
            <a:ext cx="54864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9344" y="2971800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9344" y="2971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40864" y="29260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Спец. условие: расходы на кофе &gt; 50% лимита?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73936" y="3300984"/>
            <a:ext cx="0" cy="31089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57984" y="3611880"/>
            <a:ext cx="530352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57984" y="3611880"/>
            <a:ext cx="54864" cy="6400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9344" y="3794760"/>
            <a:ext cx="329184" cy="32918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9344" y="3794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40864" y="37490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Превышение 100% лимита любой категории?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773936" y="4123944"/>
            <a:ext cx="0" cy="31089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57984" y="438912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57984" y="4389120"/>
            <a:ext cx="54864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9344" y="4572000"/>
            <a:ext cx="329184" cy="32918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9344" y="4572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40864" y="45262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Превышение 80% лимита → предупреждение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SQL-ЗАПРОСЫ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SQL-запросы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1 — Расходы за месяц (JOIN)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8229600" cy="786384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0992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e.*, c.name, c.color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expenses 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categories c ON e.category_id = c.id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strftime('%Y-%m', e.date) = 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5877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2 — Суммы по категориям (GROUP BY)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35224"/>
            <a:ext cx="8229600" cy="786384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7180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SUM(e.amount) AS total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expenses 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categories c ON e.category_id = c.id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strftime('%Y-%m', e.date) = 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8496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3 — История за 6 месяцев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197096"/>
            <a:ext cx="8229600" cy="786384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23367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strftime('%Y-%m', date) AS month,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SUM(amount) AS total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expenses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month DESC LIMIT 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SQL-ЗАПРОСЫ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SQL-запросы: контроль лимитов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4 — Превышение лимита на 20% (тройной JOIN)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82296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19072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SUM(e.amount) AS spent, l.monthly_lim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expenses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categories c ON e.category_id = c.id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limits l ON l.category_id = c.id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strftime('%Y-%m', e.date) = 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spent &gt; l.monthly_lim * 1.2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5 — Топ-3 дорогих транзакции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e.amount, e.description, c.name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expenses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categories c ON e.category_id = c.id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e.amount DESC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Используемые конструкции SQL: JOIN · GROUP BY · HAVING · ORDER BY · LIMIT · strftime() · SUM()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ТЕСТИРОВАНИЕ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Функциональное тестирование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47472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Тест-кейс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Ожидаемый результат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Добавление расхода с суммой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 валидации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Добавление с некорректной датой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 валидации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Добавление корректного расхода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Запись сохранена в БД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Удаление расхода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Запись удалена из БД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Смена месяца в фильтре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 обновляются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Уведомление при 80%+ лимита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Карточка появляется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Сохранение нового лимита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Запись в таблице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solidFill>
            <a:srgbClr val="D4EDD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81888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7 тест-кейсов пройдены успешно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ТЕСТИРОВАНИЕ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Нефункциональное тестирование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40–80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сервера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(дашборд)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0604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25880"/>
            <a:ext cx="260604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150–200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браузере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0604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606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630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200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по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TechSpec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Кросс-платформенность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260604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822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 / 11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3749040"/>
            <a:ext cx="260604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822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Ubuntu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91840" y="42245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22.04 LTS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3749040"/>
            <a:ext cx="260604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8221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macOS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42245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Ventura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ЗАКЛЮЧЕНИЕ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Достигнутые результаты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463040" y="15361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таблицы БД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expenses, limits с ограничениями целостности и внешними ключами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4114800" cy="15544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154680"/>
            <a:ext cx="411480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9184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1463040" y="33192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SQL-запросов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GROUP BY, HAVING, LIMIT, агрегатные функции — полный CRUD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4114800" cy="15544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71600"/>
            <a:ext cx="41148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50876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5806440" y="15361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разделов UI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06440" y="1965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веб-интерфейс: дашборд, добавление, список, отчёт, уведомления, лимиты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154680"/>
            <a:ext cx="4114800" cy="15544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154680"/>
            <a:ext cx="4114800" cy="6400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9184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5806440" y="33192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6440" y="3749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AJAX-эндпоинты для удаления расходов без перезагрузки страницы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ЗАКЛЮЧЕНИЕ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04256"/>
            <a:ext cx="54864" cy="148263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 веб-приложение «Трекер расходов» на Python 3 + Flask + SQLite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запускается локально и не требует регистрации в сторонних сервисах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полный цикл: проектирование БД → разработка → тестирование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Реализована система умных персонализированных уведомлений о превышении лимитов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успешно протестировано на Windows, Ubuntu и macOS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отклика UI не превысило 200 мс — требование выполнено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ИСПОЛЬЗОВАННЫХ ИСТОЧНИКОВ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Использованные источники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63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4447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Software Foundation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810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Documentation — https://docs.python.org/3/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6517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334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999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Documentation — https://www.sqlite.org/docs.html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8404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221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Pallets Projects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187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Documentation — https://flask.palletsprojects.com/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обращения: 15.05.2025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56032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Трекер расходов — Python + Flask + SQLite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8046720" cy="548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Моисеенко О.Н., группа 253-325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ru-RU" sz="1300" b="1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</a:t>
            </a:r>
            <a:r>
              <a:rPr lang="en-US" sz="1300" b="1" dirty="0">
                <a:solidFill>
                  <a:srgbClr val="AA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Красникова И.Н.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Московский Политехнический Университет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1449</Words>
  <Application>Microsoft Office PowerPoint</Application>
  <PresentationFormat>Экран (16:9)</PresentationFormat>
  <Paragraphs>346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Трекер расходов — Курсовой проект</dc:title>
  <dc:subject>PptxGenJS Presentation</dc:subject>
  <dc:creator>PptxGenJS</dc:creator>
  <cp:lastModifiedBy>PC</cp:lastModifiedBy>
  <cp:revision>2</cp:revision>
  <dcterms:created xsi:type="dcterms:W3CDTF">2026-05-21T10:10:07Z</dcterms:created>
  <dcterms:modified xsi:type="dcterms:W3CDTF">2026-05-21T10:39:13Z</dcterms:modified>
</cp:coreProperties>
</file>